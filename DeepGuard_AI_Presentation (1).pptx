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65" r:id="rId4"/>
    <p:sldId id="256" r:id="rId6"/>
    <p:sldId id="257" r:id="rId7"/>
    <p:sldId id="259" r:id="rId8"/>
    <p:sldId id="258" r:id="rId9"/>
    <p:sldId id="261" r:id="rId10"/>
    <p:sldId id="263" r:id="rId11"/>
    <p:sldId id="262" r:id="rId12"/>
    <p:sldId id="260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A21B"/>
    <a:srgbClr val="FCAD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7.png"/><Relationship Id="rId4" Type="http://schemas.openxmlformats.org/officeDocument/2006/relationships/image" Target="../media/image8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27432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74320"/>
            <a:ext cx="137160" cy="137160"/>
          </a:xfrm>
          <a:prstGeom prst="rect">
            <a:avLst/>
          </a:prstGeom>
          <a:solidFill>
            <a:srgbClr val="4F7DF0"/>
          </a:solidFill>
          <a:ln w="12700">
            <a:solidFill>
              <a:srgbClr val="4F7D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457200"/>
            <a:ext cx="137160" cy="137160"/>
          </a:xfrm>
          <a:prstGeom prst="rect">
            <a:avLst/>
          </a:prstGeom>
          <a:solidFill>
            <a:srgbClr val="757068"/>
          </a:solidFill>
          <a:ln w="12700">
            <a:solidFill>
              <a:srgbClr val="757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7432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457200"/>
            <a:ext cx="137160" cy="137160"/>
          </a:xfrm>
          <a:prstGeom prst="rect">
            <a:avLst/>
          </a:prstGeom>
          <a:solidFill>
            <a:srgbClr val="4F7DF0"/>
          </a:solidFill>
          <a:ln w="12700">
            <a:solidFill>
              <a:srgbClr val="4F7D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274320"/>
            <a:ext cx="137160" cy="137160"/>
          </a:xfrm>
          <a:prstGeom prst="rect">
            <a:avLst/>
          </a:prstGeom>
          <a:solidFill>
            <a:srgbClr val="332D25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45720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274320"/>
            <a:ext cx="137160" cy="137160"/>
          </a:xfrm>
          <a:prstGeom prst="rect">
            <a:avLst/>
          </a:prstGeom>
          <a:solidFill>
            <a:srgbClr val="757068"/>
          </a:solidFill>
          <a:ln w="12700">
            <a:solidFill>
              <a:srgbClr val="757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685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EF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DEEPGUARD AI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858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0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09 / 09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011680"/>
            <a:ext cx="1097280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DeepGuard</a:t>
            </a:r>
            <a:endParaRPr lang="en-US" sz="72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2011680"/>
            <a:ext cx="274320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i="1" dirty="0">
                <a:solidFill>
                  <a:srgbClr val="FFD27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AI</a:t>
            </a:r>
            <a:endParaRPr lang="en-US" sz="7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2918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i="1" dirty="0">
                <a:solidFill>
                  <a:srgbClr val="FFD27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“Detect. Verify. Decide.”</a:t>
            </a:r>
            <a:endParaRPr lang="en-US" sz="2800" dirty="0"/>
          </a:p>
        </p:txBody>
      </p:sp>
      <p:sp>
        <p:nvSpPr>
          <p:cNvPr id="36" name="Text Box 35"/>
          <p:cNvSpPr txBox="1"/>
          <p:nvPr/>
        </p:nvSpPr>
        <p:spPr>
          <a:xfrm>
            <a:off x="731520" y="4851400"/>
            <a:ext cx="1738630" cy="368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b="1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[</a:t>
            </a:r>
            <a:r>
              <a:rPr lang="en-US" altLang="en-GB" b="1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Ctrl Alt Elite</a:t>
            </a:r>
            <a:r>
              <a:rPr lang="en-US" b="1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]</a:t>
            </a:r>
            <a:endParaRPr lang="en-US" b="1" i="0" u="none" strike="noStrike" cap="none">
              <a:solidFill>
                <a:srgbClr val="F4EFE6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endParaRPr lang="en-GB" altLang="en-US"/>
          </a:p>
        </p:txBody>
      </p:sp>
      <p:sp>
        <p:nvSpPr>
          <p:cNvPr id="96" name="Google Shape;96;p13"/>
          <p:cNvSpPr txBox="1"/>
          <p:nvPr/>
        </p:nvSpPr>
        <p:spPr>
          <a:xfrm>
            <a:off x="2743200" y="4874895"/>
            <a:ext cx="5721985" cy="1792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[</a:t>
            </a:r>
            <a:r>
              <a:rPr lang="en-US" altLang="en-GB" sz="1400" i="0" u="none" strike="noStrike" cap="none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PSN012] AI-Driven Deepfake &amp; Synthetic Media Detector: Develop a lightweight model that flags </a:t>
            </a:r>
            <a:endParaRPr lang="en-US" altLang="en-GB" sz="1400" i="0" u="none" strike="noStrike" cap="none">
              <a:solidFill>
                <a:srgbClr val="F4EFE6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400" i="0" u="none" strike="noStrike" cap="none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manipulated images, video, or audio in real time, helping platforms and users identify synthetic or </a:t>
            </a:r>
            <a:endParaRPr lang="en-US" altLang="en-GB" sz="1400" i="0" u="none" strike="noStrike" cap="none">
              <a:solidFill>
                <a:srgbClr val="F4EFE6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400" i="0" u="none" strike="noStrike" cap="none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altered media before it spreads.</a:t>
            </a:r>
            <a:r>
              <a:rPr lang="en-US" sz="1400" i="0" u="none" strike="noStrike" cap="none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]</a:t>
            </a:r>
            <a:endParaRPr lang="en-US" sz="1400" i="0" u="none" strike="noStrike" cap="none">
              <a:solidFill>
                <a:srgbClr val="F4EFE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1" name="Shape 0"/>
          <p:cNvSpPr/>
          <p:nvPr/>
        </p:nvSpPr>
        <p:spPr>
          <a:xfrm>
            <a:off x="7772400" y="2286000"/>
            <a:ext cx="6400800" cy="5486400"/>
          </a:xfrm>
          <a:prstGeom prst="ellipse">
            <a:avLst/>
          </a:prstGeom>
          <a:solidFill>
            <a:srgbClr val="F2B632">
              <a:alpha val="5000"/>
            </a:srgbClr>
          </a:solidFill>
          <a:ln w="12700">
            <a:solidFill>
              <a:srgbClr val="F2B632">
                <a:alpha val="0"/>
              </a:srgbClr>
            </a:solidFill>
            <a:prstDash val="solid"/>
          </a:ln>
        </p:spPr>
      </p:sp>
      <p:sp>
        <p:nvSpPr>
          <p:cNvPr id="43" name="Shape 0"/>
          <p:cNvSpPr/>
          <p:nvPr/>
        </p:nvSpPr>
        <p:spPr>
          <a:xfrm>
            <a:off x="4373880" y="1181100"/>
            <a:ext cx="6400800" cy="5486400"/>
          </a:xfrm>
          <a:prstGeom prst="ellipse">
            <a:avLst/>
          </a:prstGeom>
          <a:solidFill>
            <a:srgbClr val="F2B632">
              <a:alpha val="5000"/>
            </a:srgbClr>
          </a:solidFill>
          <a:ln w="12700">
            <a:solidFill>
              <a:srgbClr val="F2B632">
                <a:alpha val="0"/>
              </a:srgbClr>
            </a:solidFill>
            <a:prstDash val="solid"/>
          </a:ln>
        </p:spPr>
        <p:txBody>
          <a:bodyPr/>
          <a:p>
            <a:endParaRPr lang="en-GB" altLang="en-US"/>
          </a:p>
        </p:txBody>
      </p:sp>
      <p:sp>
        <p:nvSpPr>
          <p:cNvPr id="45" name="Shape 0"/>
          <p:cNvSpPr/>
          <p:nvPr/>
        </p:nvSpPr>
        <p:spPr>
          <a:xfrm>
            <a:off x="7899400" y="2413000"/>
            <a:ext cx="6400800" cy="5486400"/>
          </a:xfrm>
          <a:prstGeom prst="ellipse">
            <a:avLst/>
          </a:prstGeom>
          <a:solidFill>
            <a:srgbClr val="F2B632">
              <a:alpha val="5000"/>
            </a:srgbClr>
          </a:solidFill>
          <a:ln w="12700">
            <a:solidFill>
              <a:srgbClr val="F2B632">
                <a:alpha val="0"/>
              </a:srgbClr>
            </a:solidFill>
            <a:prstDash val="solid"/>
          </a:ln>
        </p:spPr>
      </p:sp>
      <p:sp>
        <p:nvSpPr>
          <p:cNvPr id="46" name="Text Box 45"/>
          <p:cNvSpPr txBox="1"/>
          <p:nvPr/>
        </p:nvSpPr>
        <p:spPr>
          <a:xfrm>
            <a:off x="8412480" y="4814570"/>
            <a:ext cx="3779520" cy="1981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b="1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  N SIVARAMAN</a:t>
            </a:r>
            <a:br>
              <a:rPr lang="en-US" b="1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-US" b="1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  TM BHATRATHWAJ GUHAN</a:t>
            </a:r>
            <a:endParaRPr lang="en-US" b="1">
              <a:solidFill>
                <a:srgbClr val="F4EFE6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r>
              <a:rPr lang="en-US" b="1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  M ABISHRI</a:t>
            </a:r>
            <a:endParaRPr lang="en-US" b="1">
              <a:solidFill>
                <a:srgbClr val="F4EFE6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r>
              <a:rPr lang="en-US" b="1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  T RAKSHITHA </a:t>
            </a:r>
            <a:br>
              <a:rPr lang="en-US" b="1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endParaRPr lang="en-US" b="1" i="0" u="none" strike="noStrike" cap="none">
              <a:solidFill>
                <a:srgbClr val="F4EFE6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endParaRPr lang="en-GB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2286000"/>
            <a:ext cx="6400800" cy="5486400"/>
          </a:xfrm>
          <a:prstGeom prst="ellipse">
            <a:avLst/>
          </a:prstGeom>
          <a:solidFill>
            <a:srgbClr val="F2B632">
              <a:alpha val="5000"/>
            </a:srgbClr>
          </a:solidFill>
          <a:ln w="12700">
            <a:solidFill>
              <a:srgbClr val="F2B6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7432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74320"/>
            <a:ext cx="137160" cy="137160"/>
          </a:xfrm>
          <a:prstGeom prst="rect">
            <a:avLst/>
          </a:prstGeom>
          <a:solidFill>
            <a:srgbClr val="4F7DF0"/>
          </a:solidFill>
          <a:ln w="12700">
            <a:solidFill>
              <a:srgbClr val="4F7D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457200"/>
            <a:ext cx="137160" cy="137160"/>
          </a:xfrm>
          <a:prstGeom prst="rect">
            <a:avLst/>
          </a:prstGeom>
          <a:solidFill>
            <a:srgbClr val="757068"/>
          </a:solidFill>
          <a:ln w="12700">
            <a:solidFill>
              <a:srgbClr val="757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7432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457200"/>
            <a:ext cx="137160" cy="137160"/>
          </a:xfrm>
          <a:prstGeom prst="rect">
            <a:avLst/>
          </a:prstGeom>
          <a:solidFill>
            <a:srgbClr val="4F7DF0"/>
          </a:solidFill>
          <a:ln w="12700">
            <a:solidFill>
              <a:srgbClr val="4F7D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274320"/>
            <a:ext cx="137160" cy="137160"/>
          </a:xfrm>
          <a:prstGeom prst="rect">
            <a:avLst/>
          </a:prstGeom>
          <a:solidFill>
            <a:srgbClr val="332D25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45720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274320"/>
            <a:ext cx="137160" cy="137160"/>
          </a:xfrm>
          <a:prstGeom prst="rect">
            <a:avLst/>
          </a:prstGeom>
          <a:solidFill>
            <a:srgbClr val="757068"/>
          </a:solidFill>
          <a:ln w="12700">
            <a:solidFill>
              <a:srgbClr val="757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685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EF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DEEPGUARD AI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858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0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 / 09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B6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141732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</a:t>
            </a:r>
            <a:r>
              <a:rPr lang="en-US" sz="3800" i="1" dirty="0">
                <a:solidFill>
                  <a:srgbClr val="FFD27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Problem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3774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AI-generated images are getting harder to tell apart from real ones.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611880"/>
            <a:ext cx="731520" cy="73152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3809390"/>
            <a:ext cx="336499" cy="336499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868680" y="45720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Can’t verify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" y="502920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Users cannot easily tell whether an image is AI-generated or real.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297680" y="329184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17720" y="3611880"/>
            <a:ext cx="731520" cy="73152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230" y="3809390"/>
            <a:ext cx="336499" cy="336499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4617720" y="45720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Slow and hard</a:t>
            </a:r>
            <a:endParaRPr lang="en-US" sz="2000" dirty="0"/>
          </a:p>
        </p:txBody>
      </p:sp>
      <p:sp>
        <p:nvSpPr>
          <p:cNvPr id="25" name="Text 21"/>
          <p:cNvSpPr txBox="1"/>
          <p:nvPr/>
        </p:nvSpPr>
        <p:spPr>
          <a:xfrm>
            <a:off x="4617720" y="502920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Manual verification is slow and difficult for everyday users.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8046720" y="329184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366760" y="3611880"/>
            <a:ext cx="731520" cy="73152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270" y="3809390"/>
            <a:ext cx="336499" cy="336499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8366760" y="45720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Not in the workflow</a:t>
            </a:r>
            <a:endParaRPr lang="en-US" sz="2000" dirty="0"/>
          </a:p>
        </p:txBody>
      </p:sp>
      <p:sp>
        <p:nvSpPr>
          <p:cNvPr id="30" name="Text 25"/>
          <p:cNvSpPr txBox="1"/>
          <p:nvPr/>
        </p:nvSpPr>
        <p:spPr>
          <a:xfrm>
            <a:off x="8366760" y="502920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Existing detection methods aren’t always available right in the user’s browsing workflow.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2286000"/>
            <a:ext cx="6400800" cy="5486400"/>
          </a:xfrm>
          <a:prstGeom prst="ellipse">
            <a:avLst/>
          </a:prstGeom>
          <a:solidFill>
            <a:srgbClr val="F2B632">
              <a:alpha val="5000"/>
            </a:srgbClr>
          </a:solidFill>
          <a:ln w="12700">
            <a:solidFill>
              <a:srgbClr val="F2B6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7432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74320"/>
            <a:ext cx="137160" cy="137160"/>
          </a:xfrm>
          <a:prstGeom prst="rect">
            <a:avLst/>
          </a:prstGeom>
          <a:solidFill>
            <a:srgbClr val="4F7DF0"/>
          </a:solidFill>
          <a:ln w="12700">
            <a:solidFill>
              <a:srgbClr val="4F7D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457200"/>
            <a:ext cx="137160" cy="137160"/>
          </a:xfrm>
          <a:prstGeom prst="rect">
            <a:avLst/>
          </a:prstGeom>
          <a:solidFill>
            <a:srgbClr val="757068"/>
          </a:solidFill>
          <a:ln w="12700">
            <a:solidFill>
              <a:srgbClr val="757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7432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457200"/>
            <a:ext cx="137160" cy="137160"/>
          </a:xfrm>
          <a:prstGeom prst="rect">
            <a:avLst/>
          </a:prstGeom>
          <a:solidFill>
            <a:srgbClr val="4F7DF0"/>
          </a:solidFill>
          <a:ln w="12700">
            <a:solidFill>
              <a:srgbClr val="4F7D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274320"/>
            <a:ext cx="137160" cy="137160"/>
          </a:xfrm>
          <a:prstGeom prst="rect">
            <a:avLst/>
          </a:prstGeom>
          <a:solidFill>
            <a:srgbClr val="332D25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45720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274320"/>
            <a:ext cx="137160" cy="137160"/>
          </a:xfrm>
          <a:prstGeom prst="rect">
            <a:avLst/>
          </a:prstGeom>
          <a:solidFill>
            <a:srgbClr val="757068"/>
          </a:solidFill>
          <a:ln w="12700">
            <a:solidFill>
              <a:srgbClr val="757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685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EF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DEEPGUARD AI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858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0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 / 09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B6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TWO FACES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141732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it costs today, </a:t>
            </a:r>
            <a:r>
              <a:rPr lang="en-US" sz="3800" i="1" dirty="0">
                <a:solidFill>
                  <a:srgbClr val="FFD27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what we build</a:t>
            </a:r>
            <a:endParaRPr lang="en-US" sz="3800" dirty="0"/>
          </a:p>
        </p:txBody>
      </p:sp>
      <p:sp>
        <p:nvSpPr>
          <p:cNvPr id="15" name="Shape 13"/>
          <p:cNvSpPr/>
          <p:nvPr/>
        </p:nvSpPr>
        <p:spPr>
          <a:xfrm>
            <a:off x="548640" y="2468880"/>
            <a:ext cx="5120640" cy="3749040"/>
          </a:xfrm>
          <a:prstGeom prst="roundRect">
            <a:avLst>
              <a:gd name="adj" fmla="val 1951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27432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9E988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WHAT IT COSTS USERS TODAY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200400"/>
            <a:ext cx="4480560" cy="2743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Manually investigate suspicious images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Switch between websites/tools to verify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Spend significant time checking authenticity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Risk trusting misleading or synthetic content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52160" y="4160520"/>
            <a:ext cx="502920" cy="274320"/>
          </a:xfrm>
          <a:prstGeom prst="rightArrow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7960" y="2468880"/>
            <a:ext cx="5120640" cy="3749040"/>
          </a:xfrm>
          <a:prstGeom prst="roundRect">
            <a:avLst>
              <a:gd name="adj" fmla="val 1951"/>
            </a:avLst>
          </a:prstGeom>
          <a:solidFill>
            <a:srgbClr val="2A2110"/>
          </a:solidFill>
          <a:ln w="19050">
            <a:solidFill>
              <a:srgbClr val="F2B6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0" y="27432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2B6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WHAT WE ARE BUILDING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30632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D2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DeepGuard AI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3749040"/>
            <a:ext cx="448056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Detects AI-generated/manipulated images in the browser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Upload an image or analyze while browsing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Returns AI probability + clear REAL / AI-GENERATED result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Fast, accessible, built for everyday users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2286000"/>
            <a:ext cx="6400800" cy="5486400"/>
          </a:xfrm>
          <a:prstGeom prst="ellipse">
            <a:avLst/>
          </a:prstGeom>
          <a:solidFill>
            <a:srgbClr val="F2B632">
              <a:alpha val="5000"/>
            </a:srgbClr>
          </a:solidFill>
          <a:ln w="12700">
            <a:solidFill>
              <a:srgbClr val="F2B6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7432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74320"/>
            <a:ext cx="137160" cy="137160"/>
          </a:xfrm>
          <a:prstGeom prst="rect">
            <a:avLst/>
          </a:prstGeom>
          <a:solidFill>
            <a:srgbClr val="4F7DF0"/>
          </a:solidFill>
          <a:ln w="12700">
            <a:solidFill>
              <a:srgbClr val="4F7D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457200"/>
            <a:ext cx="137160" cy="137160"/>
          </a:xfrm>
          <a:prstGeom prst="rect">
            <a:avLst/>
          </a:prstGeom>
          <a:solidFill>
            <a:srgbClr val="757068"/>
          </a:solidFill>
          <a:ln w="12700">
            <a:solidFill>
              <a:srgbClr val="757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7432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457200"/>
            <a:ext cx="137160" cy="137160"/>
          </a:xfrm>
          <a:prstGeom prst="rect">
            <a:avLst/>
          </a:prstGeom>
          <a:solidFill>
            <a:srgbClr val="4F7DF0"/>
          </a:solidFill>
          <a:ln w="12700">
            <a:solidFill>
              <a:srgbClr val="4F7D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274320"/>
            <a:ext cx="137160" cy="137160"/>
          </a:xfrm>
          <a:prstGeom prst="rect">
            <a:avLst/>
          </a:prstGeom>
          <a:solidFill>
            <a:srgbClr val="332D25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45720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274320"/>
            <a:ext cx="137160" cy="137160"/>
          </a:xfrm>
          <a:prstGeom prst="rect">
            <a:avLst/>
          </a:prstGeom>
          <a:solidFill>
            <a:srgbClr val="757068"/>
          </a:solidFill>
          <a:ln w="12700">
            <a:solidFill>
              <a:srgbClr val="757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685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EF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DEEPGUARD AI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858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0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04 / 09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B6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TECHNICAL APPROACH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141732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</a:t>
            </a:r>
            <a:r>
              <a:rPr lang="en-US" sz="3800" i="1" dirty="0">
                <a:solidFill>
                  <a:srgbClr val="FFD27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it works</a:t>
            </a:r>
            <a:endParaRPr lang="en-US" sz="3800" dirty="0"/>
          </a:p>
        </p:txBody>
      </p:sp>
      <p:sp>
        <p:nvSpPr>
          <p:cNvPr id="15" name="Shape 13"/>
          <p:cNvSpPr/>
          <p:nvPr/>
        </p:nvSpPr>
        <p:spPr>
          <a:xfrm>
            <a:off x="548640" y="237744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2514600"/>
            <a:ext cx="548640" cy="54864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6853" y="2662733"/>
            <a:ext cx="252374" cy="25237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94360" y="32004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Image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423160" y="2926080"/>
            <a:ext cx="365760" cy="274320"/>
          </a:xfrm>
          <a:prstGeom prst="rightArrow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834640" y="237744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474720" y="2514600"/>
            <a:ext cx="548640" cy="54864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853" y="2662733"/>
            <a:ext cx="252374" cy="25237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2880360" y="32004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4709160" y="2926080"/>
            <a:ext cx="365760" cy="274320"/>
          </a:xfrm>
          <a:prstGeom prst="rightArrow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120640" y="237744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2A2110"/>
          </a:solidFill>
          <a:ln w="19050">
            <a:solidFill>
              <a:srgbClr val="F2B632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760720" y="2514600"/>
            <a:ext cx="548640" cy="54864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8853" y="2662733"/>
            <a:ext cx="252374" cy="25237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5166360" y="32004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Detectra ONNX Model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6995160" y="2926080"/>
            <a:ext cx="365760" cy="274320"/>
          </a:xfrm>
          <a:prstGeom prst="rightArrow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406640" y="237744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046720" y="2514600"/>
            <a:ext cx="548640" cy="54864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4853" y="2662733"/>
            <a:ext cx="252374" cy="25237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7452360" y="32004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Probability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9281160" y="2926080"/>
            <a:ext cx="365760" cy="274320"/>
          </a:xfrm>
          <a:prstGeom prst="rightArrow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9692640" y="237744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10332720" y="2514600"/>
            <a:ext cx="548640" cy="54864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0853" y="2662733"/>
            <a:ext cx="252374" cy="252374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9738360" y="32004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Verdict</a:t>
            </a:r>
            <a:endParaRPr lang="en-US" sz="1300" dirty="0"/>
          </a:p>
        </p:txBody>
      </p:sp>
      <p:sp>
        <p:nvSpPr>
          <p:cNvPr id="39" name="Shape 32"/>
          <p:cNvSpPr/>
          <p:nvPr/>
        </p:nvSpPr>
        <p:spPr>
          <a:xfrm>
            <a:off x="548640" y="402336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777240" y="4206240"/>
            <a:ext cx="457200" cy="45720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4329684"/>
            <a:ext cx="210312" cy="210312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1371600" y="422452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B6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MODEL</a:t>
            </a:r>
            <a:endParaRPr lang="en-US" sz="1100" dirty="0"/>
          </a:p>
        </p:txBody>
      </p:sp>
      <p:sp>
        <p:nvSpPr>
          <p:cNvPr id="43" name="Text 35"/>
          <p:cNvSpPr txBox="1"/>
          <p:nvPr/>
        </p:nvSpPr>
        <p:spPr>
          <a:xfrm>
            <a:off x="777240" y="4846320"/>
            <a:ext cx="3108960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Detectra v3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Vision Transformer-based, pretrained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ONNX format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384 × 384 image input</a:t>
            </a:r>
            <a:endParaRPr lang="en-US" sz="1200" dirty="0"/>
          </a:p>
        </p:txBody>
      </p:sp>
      <p:sp>
        <p:nvSpPr>
          <p:cNvPr id="44" name="Shape 36"/>
          <p:cNvSpPr/>
          <p:nvPr/>
        </p:nvSpPr>
        <p:spPr>
          <a:xfrm>
            <a:off x="4297680" y="402336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4526280" y="4206240"/>
            <a:ext cx="457200" cy="45720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9724" y="4329684"/>
            <a:ext cx="210312" cy="210312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5120640" y="422452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B6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DATA</a:t>
            </a:r>
            <a:endParaRPr lang="en-US" sz="1100" dirty="0"/>
          </a:p>
        </p:txBody>
      </p:sp>
      <p:sp>
        <p:nvSpPr>
          <p:cNvPr id="48" name="Text 39"/>
          <p:cNvSpPr txBox="1"/>
          <p:nvPr/>
        </p:nvSpPr>
        <p:spPr>
          <a:xfrm>
            <a:off x="4526280" y="4846320"/>
            <a:ext cx="3108960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Known REAL images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AI-generated images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Independent evaluation images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External unseen dataset evaluation</a:t>
            </a:r>
            <a:endParaRPr lang="en-US" sz="1200" dirty="0"/>
          </a:p>
        </p:txBody>
      </p:sp>
      <p:sp>
        <p:nvSpPr>
          <p:cNvPr id="49" name="Shape 40"/>
          <p:cNvSpPr/>
          <p:nvPr/>
        </p:nvSpPr>
        <p:spPr>
          <a:xfrm>
            <a:off x="8046720" y="402336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50" name="Shape 41"/>
          <p:cNvSpPr/>
          <p:nvPr/>
        </p:nvSpPr>
        <p:spPr>
          <a:xfrm>
            <a:off x="8275320" y="4206240"/>
            <a:ext cx="457200" cy="45720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8764" y="4329684"/>
            <a:ext cx="210312" cy="210312"/>
          </a:xfrm>
          <a:prstGeom prst="rect">
            <a:avLst/>
          </a:prstGeom>
        </p:spPr>
      </p:pic>
      <p:sp>
        <p:nvSpPr>
          <p:cNvPr id="52" name="Text 42"/>
          <p:cNvSpPr txBox="1"/>
          <p:nvPr/>
        </p:nvSpPr>
        <p:spPr>
          <a:xfrm>
            <a:off x="8869680" y="4224528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B6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TOOLS &amp; FRAMEWORKS</a:t>
            </a:r>
            <a:endParaRPr lang="en-US" sz="1100" dirty="0"/>
          </a:p>
        </p:txBody>
      </p:sp>
      <p:sp>
        <p:nvSpPr>
          <p:cNvPr id="53" name="Text 43"/>
          <p:cNvSpPr txBox="1"/>
          <p:nvPr/>
        </p:nvSpPr>
        <p:spPr>
          <a:xfrm>
            <a:off x="8275320" y="4846320"/>
            <a:ext cx="3108960" cy="1325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Python · PyTorch / torchvision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ONNX Runtime · ONNX Runtime Web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JavaScript · Chrome Extension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HTML/CSS · Google Colab · Hugging Face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2286000"/>
            <a:ext cx="6400800" cy="5486400"/>
          </a:xfrm>
          <a:prstGeom prst="ellipse">
            <a:avLst/>
          </a:prstGeom>
          <a:solidFill>
            <a:srgbClr val="F2B632">
              <a:alpha val="5000"/>
            </a:srgbClr>
          </a:solidFill>
          <a:ln w="12700">
            <a:solidFill>
              <a:srgbClr val="F2B6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7432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74320"/>
            <a:ext cx="137160" cy="137160"/>
          </a:xfrm>
          <a:prstGeom prst="rect">
            <a:avLst/>
          </a:prstGeom>
          <a:solidFill>
            <a:srgbClr val="4F7DF0"/>
          </a:solidFill>
          <a:ln w="12700">
            <a:solidFill>
              <a:srgbClr val="4F7D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457200"/>
            <a:ext cx="137160" cy="137160"/>
          </a:xfrm>
          <a:prstGeom prst="rect">
            <a:avLst/>
          </a:prstGeom>
          <a:solidFill>
            <a:srgbClr val="757068"/>
          </a:solidFill>
          <a:ln w="12700">
            <a:solidFill>
              <a:srgbClr val="757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7432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457200"/>
            <a:ext cx="137160" cy="137160"/>
          </a:xfrm>
          <a:prstGeom prst="rect">
            <a:avLst/>
          </a:prstGeom>
          <a:solidFill>
            <a:srgbClr val="4F7DF0"/>
          </a:solidFill>
          <a:ln w="12700">
            <a:solidFill>
              <a:srgbClr val="4F7D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274320"/>
            <a:ext cx="137160" cy="137160"/>
          </a:xfrm>
          <a:prstGeom prst="rect">
            <a:avLst/>
          </a:prstGeom>
          <a:solidFill>
            <a:srgbClr val="332D25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45720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274320"/>
            <a:ext cx="137160" cy="137160"/>
          </a:xfrm>
          <a:prstGeom prst="rect">
            <a:avLst/>
          </a:prstGeom>
          <a:solidFill>
            <a:srgbClr val="757068"/>
          </a:solidFill>
          <a:ln w="12700">
            <a:solidFill>
              <a:srgbClr val="757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685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EF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DEEPGUARD AI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858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0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 / 09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B6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USER EXPERIENCE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141732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Three steps, </a:t>
            </a:r>
            <a:r>
              <a:rPr lang="en-US" sz="3800" i="1" dirty="0">
                <a:solidFill>
                  <a:srgbClr val="FFD27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one verdict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3774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2B6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WHAT THE USER DOES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69748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2926080"/>
            <a:ext cx="594360" cy="59436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437" y="3086557"/>
            <a:ext cx="273406" cy="273406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3291840" y="288036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7570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365760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Upload or click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397764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Upload an image, or click one while browsing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913632" y="3429000"/>
            <a:ext cx="411480" cy="274320"/>
          </a:xfrm>
          <a:prstGeom prst="rightArrow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434840" y="269748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709160" y="2926080"/>
            <a:ext cx="594360" cy="59436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637" y="3086557"/>
            <a:ext cx="273406" cy="273406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7178040" y="288036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7570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2</a:t>
            </a:r>
            <a:endParaRPr lang="en-US" sz="2400" dirty="0"/>
          </a:p>
        </p:txBody>
      </p:sp>
      <p:sp>
        <p:nvSpPr>
          <p:cNvPr id="27" name="Text 23"/>
          <p:cNvSpPr txBox="1"/>
          <p:nvPr/>
        </p:nvSpPr>
        <p:spPr>
          <a:xfrm>
            <a:off x="4709160" y="365760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analyzes</a:t>
            </a:r>
            <a:endParaRPr lang="en-US" sz="1700" dirty="0"/>
          </a:p>
        </p:txBody>
      </p:sp>
      <p:sp>
        <p:nvSpPr>
          <p:cNvPr id="28" name="Text 24"/>
          <p:cNvSpPr txBox="1"/>
          <p:nvPr/>
        </p:nvSpPr>
        <p:spPr>
          <a:xfrm>
            <a:off x="4709160" y="397764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DeepGuard AI analyzes the image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7799832" y="3429000"/>
            <a:ext cx="411480" cy="274320"/>
          </a:xfrm>
          <a:prstGeom prst="rightArrow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321040" y="269748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595360" y="2926080"/>
            <a:ext cx="594360" cy="59436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5837" y="3086557"/>
            <a:ext cx="273406" cy="273406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11064240" y="288036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7570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</a:t>
            </a:r>
            <a:endParaRPr lang="en-US" sz="2400" dirty="0"/>
          </a:p>
        </p:txBody>
      </p:sp>
      <p:sp>
        <p:nvSpPr>
          <p:cNvPr id="34" name="Text 29"/>
          <p:cNvSpPr txBox="1"/>
          <p:nvPr/>
        </p:nvSpPr>
        <p:spPr>
          <a:xfrm>
            <a:off x="8595360" y="365760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Get the result</a:t>
            </a:r>
            <a:endParaRPr lang="en-US" sz="1700" dirty="0"/>
          </a:p>
        </p:txBody>
      </p:sp>
      <p:sp>
        <p:nvSpPr>
          <p:cNvPr id="35" name="Text 30"/>
          <p:cNvSpPr txBox="1"/>
          <p:nvPr/>
        </p:nvSpPr>
        <p:spPr>
          <a:xfrm>
            <a:off x="8595360" y="3977640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user receives the verdict</a:t>
            </a:r>
            <a:endParaRPr lang="en-US" sz="1200" dirty="0"/>
          </a:p>
        </p:txBody>
      </p:sp>
      <p:sp>
        <p:nvSpPr>
          <p:cNvPr id="36" name="Text 31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2B6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WHAT THE USER GETS BACK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548640" y="50292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731520" y="5349240"/>
            <a:ext cx="502920" cy="50292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308" y="5485028"/>
            <a:ext cx="231343" cy="231343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1371600" y="516636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REAL or AI-GENERATED / MANIPULATED verdict</a:t>
            </a:r>
            <a:endParaRPr lang="en-US" sz="1200" dirty="0"/>
          </a:p>
        </p:txBody>
      </p:sp>
      <p:sp>
        <p:nvSpPr>
          <p:cNvPr id="41" name="Shape 35"/>
          <p:cNvSpPr/>
          <p:nvPr/>
        </p:nvSpPr>
        <p:spPr>
          <a:xfrm>
            <a:off x="3383280" y="50292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3566160" y="5349240"/>
            <a:ext cx="502920" cy="50292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1948" y="5485028"/>
            <a:ext cx="231343" cy="231343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4206240" y="516636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probability percentage</a:t>
            </a:r>
            <a:endParaRPr lang="en-US" sz="1200" dirty="0"/>
          </a:p>
        </p:txBody>
      </p:sp>
      <p:sp>
        <p:nvSpPr>
          <p:cNvPr id="45" name="Shape 38"/>
          <p:cNvSpPr/>
          <p:nvPr/>
        </p:nvSpPr>
        <p:spPr>
          <a:xfrm>
            <a:off x="6217920" y="50292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6400800" y="5349240"/>
            <a:ext cx="502920" cy="50292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6588" y="5485028"/>
            <a:ext cx="231343" cy="231343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7040880" y="516636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Probability visualization</a:t>
            </a:r>
            <a:endParaRPr lang="en-US" sz="1200" dirty="0"/>
          </a:p>
        </p:txBody>
      </p:sp>
      <p:sp>
        <p:nvSpPr>
          <p:cNvPr id="49" name="Shape 41"/>
          <p:cNvSpPr/>
          <p:nvPr/>
        </p:nvSpPr>
        <p:spPr>
          <a:xfrm>
            <a:off x="9052560" y="502920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9235440" y="5349240"/>
            <a:ext cx="502920" cy="50292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5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1228" y="5485028"/>
            <a:ext cx="231343" cy="231343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9875520" y="516636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Reminder: an AI-assisted prediction, not absolute proof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2286000"/>
            <a:ext cx="6400800" cy="5486400"/>
          </a:xfrm>
          <a:prstGeom prst="ellipse">
            <a:avLst/>
          </a:prstGeom>
          <a:solidFill>
            <a:srgbClr val="F2B632">
              <a:alpha val="5000"/>
            </a:srgbClr>
          </a:solidFill>
          <a:ln w="12700">
            <a:solidFill>
              <a:srgbClr val="F2B6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7432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74320"/>
            <a:ext cx="137160" cy="137160"/>
          </a:xfrm>
          <a:prstGeom prst="rect">
            <a:avLst/>
          </a:prstGeom>
          <a:solidFill>
            <a:srgbClr val="4F7DF0"/>
          </a:solidFill>
          <a:ln w="12700">
            <a:solidFill>
              <a:srgbClr val="4F7D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457200"/>
            <a:ext cx="137160" cy="137160"/>
          </a:xfrm>
          <a:prstGeom prst="rect">
            <a:avLst/>
          </a:prstGeom>
          <a:solidFill>
            <a:srgbClr val="757068"/>
          </a:solidFill>
          <a:ln w="12700">
            <a:solidFill>
              <a:srgbClr val="757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7432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457200"/>
            <a:ext cx="137160" cy="137160"/>
          </a:xfrm>
          <a:prstGeom prst="rect">
            <a:avLst/>
          </a:prstGeom>
          <a:solidFill>
            <a:srgbClr val="4F7DF0"/>
          </a:solidFill>
          <a:ln w="12700">
            <a:solidFill>
              <a:srgbClr val="4F7D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274320"/>
            <a:ext cx="137160" cy="137160"/>
          </a:xfrm>
          <a:prstGeom prst="rect">
            <a:avLst/>
          </a:prstGeom>
          <a:solidFill>
            <a:srgbClr val="332D25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45720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274320"/>
            <a:ext cx="137160" cy="137160"/>
          </a:xfrm>
          <a:prstGeom prst="rect">
            <a:avLst/>
          </a:prstGeom>
          <a:solidFill>
            <a:srgbClr val="757068"/>
          </a:solidFill>
          <a:ln w="12700">
            <a:solidFill>
              <a:srgbClr val="757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685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EF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DEEPGUARD AI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858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0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06 / 09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B6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KEY MILESTONES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141732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we will do </a:t>
            </a:r>
            <a:r>
              <a:rPr lang="en-US" sz="3800" i="1" dirty="0">
                <a:solidFill>
                  <a:srgbClr val="FFD27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by 1 Oct</a:t>
            </a:r>
            <a:endParaRPr lang="en-US" sz="3800" dirty="0"/>
          </a:p>
        </p:txBody>
      </p:sp>
      <p:sp>
        <p:nvSpPr>
          <p:cNvPr id="15" name="Shape 13"/>
          <p:cNvSpPr/>
          <p:nvPr/>
        </p:nvSpPr>
        <p:spPr>
          <a:xfrm>
            <a:off x="548640" y="246888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2651760"/>
            <a:ext cx="411480" cy="41148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752344"/>
            <a:ext cx="210312" cy="210312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417320" y="2468880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Working pretrained ONNX detector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126480" y="246888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55080" y="2651760"/>
            <a:ext cx="411480" cy="41148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5664" y="2752344"/>
            <a:ext cx="210312" cy="210312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995160" y="2468880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Browser-based inference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342900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77240" y="3611880"/>
            <a:ext cx="411480" cy="41148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3712464"/>
            <a:ext cx="210312" cy="210312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417320" y="3429000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Chrome Extension integration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6126480" y="342900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355080" y="3611880"/>
            <a:ext cx="411480" cy="41148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5664" y="3712464"/>
            <a:ext cx="210312" cy="210312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6995160" y="3429000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Image upload detection</a:t>
            </a:r>
            <a:endParaRPr lang="en-US" sz="1600" dirty="0"/>
          </a:p>
        </p:txBody>
      </p:sp>
      <p:sp>
        <p:nvSpPr>
          <p:cNvPr id="31" name="Shape 25"/>
          <p:cNvSpPr/>
          <p:nvPr/>
        </p:nvSpPr>
        <p:spPr>
          <a:xfrm>
            <a:off x="548640" y="438912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777240" y="4572000"/>
            <a:ext cx="411480" cy="41148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4672584"/>
            <a:ext cx="210312" cy="210312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417320" y="4389120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Click-to-analyze image workflow</a:t>
            </a:r>
            <a:endParaRPr lang="en-US" sz="1600" dirty="0"/>
          </a:p>
        </p:txBody>
      </p:sp>
      <p:sp>
        <p:nvSpPr>
          <p:cNvPr id="35" name="Shape 28"/>
          <p:cNvSpPr/>
          <p:nvPr/>
        </p:nvSpPr>
        <p:spPr>
          <a:xfrm>
            <a:off x="6126480" y="438912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355080" y="4572000"/>
            <a:ext cx="411480" cy="41148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5664" y="4672584"/>
            <a:ext cx="210312" cy="210312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6995160" y="4389120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REAL / AI-GENERATED result</a:t>
            </a:r>
            <a:endParaRPr lang="en-US" sz="1600" dirty="0"/>
          </a:p>
        </p:txBody>
      </p:sp>
      <p:sp>
        <p:nvSpPr>
          <p:cNvPr id="39" name="Shape 31"/>
          <p:cNvSpPr/>
          <p:nvPr/>
        </p:nvSpPr>
        <p:spPr>
          <a:xfrm>
            <a:off x="548640" y="534924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777240" y="5532120"/>
            <a:ext cx="411480" cy="41148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5632704"/>
            <a:ext cx="210312" cy="210312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1417320" y="5349240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probability display</a:t>
            </a:r>
            <a:endParaRPr lang="en-US" sz="1600" dirty="0"/>
          </a:p>
        </p:txBody>
      </p:sp>
      <p:sp>
        <p:nvSpPr>
          <p:cNvPr id="43" name="Shape 34"/>
          <p:cNvSpPr/>
          <p:nvPr/>
        </p:nvSpPr>
        <p:spPr>
          <a:xfrm>
            <a:off x="6126480" y="534924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6355080" y="5532120"/>
            <a:ext cx="411480" cy="41148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5664" y="5632704"/>
            <a:ext cx="210312" cy="210312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6995160" y="5349240"/>
            <a:ext cx="4389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Working end-to-end demonstration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2286000"/>
            <a:ext cx="6400800" cy="5486400"/>
          </a:xfrm>
          <a:prstGeom prst="ellipse">
            <a:avLst/>
          </a:prstGeom>
          <a:solidFill>
            <a:srgbClr val="F2B632">
              <a:alpha val="5000"/>
            </a:srgbClr>
          </a:solidFill>
          <a:ln w="12700">
            <a:solidFill>
              <a:srgbClr val="F2B6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7432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74320"/>
            <a:ext cx="137160" cy="137160"/>
          </a:xfrm>
          <a:prstGeom prst="rect">
            <a:avLst/>
          </a:prstGeom>
          <a:solidFill>
            <a:srgbClr val="4F7DF0"/>
          </a:solidFill>
          <a:ln w="12700">
            <a:solidFill>
              <a:srgbClr val="4F7D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457200"/>
            <a:ext cx="137160" cy="137160"/>
          </a:xfrm>
          <a:prstGeom prst="rect">
            <a:avLst/>
          </a:prstGeom>
          <a:solidFill>
            <a:srgbClr val="757068"/>
          </a:solidFill>
          <a:ln w="12700">
            <a:solidFill>
              <a:srgbClr val="757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7432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457200"/>
            <a:ext cx="137160" cy="137160"/>
          </a:xfrm>
          <a:prstGeom prst="rect">
            <a:avLst/>
          </a:prstGeom>
          <a:solidFill>
            <a:srgbClr val="4F7DF0"/>
          </a:solidFill>
          <a:ln w="12700">
            <a:solidFill>
              <a:srgbClr val="4F7D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274320"/>
            <a:ext cx="137160" cy="137160"/>
          </a:xfrm>
          <a:prstGeom prst="rect">
            <a:avLst/>
          </a:prstGeom>
          <a:solidFill>
            <a:srgbClr val="332D25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45720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274320"/>
            <a:ext cx="137160" cy="137160"/>
          </a:xfrm>
          <a:prstGeom prst="rect">
            <a:avLst/>
          </a:prstGeom>
          <a:solidFill>
            <a:srgbClr val="757068"/>
          </a:solidFill>
          <a:ln w="12700">
            <a:solidFill>
              <a:srgbClr val="757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685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EF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DEEPGUARD AI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858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0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08 / 09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B6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BASELINE &amp; TARGET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141732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Time </a:t>
            </a:r>
            <a:r>
              <a:rPr lang="en-US" sz="3800" i="1" dirty="0">
                <a:solidFill>
                  <a:srgbClr val="FFD27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to result</a:t>
            </a:r>
            <a:endParaRPr lang="en-US" sz="3800" dirty="0"/>
          </a:p>
        </p:txBody>
      </p:sp>
      <p:sp>
        <p:nvSpPr>
          <p:cNvPr id="15" name="Shape 13"/>
          <p:cNvSpPr/>
          <p:nvPr/>
        </p:nvSpPr>
        <p:spPr>
          <a:xfrm>
            <a:off x="548640" y="2468880"/>
            <a:ext cx="4937760" cy="2651760"/>
          </a:xfrm>
          <a:prstGeom prst="roundRect">
            <a:avLst>
              <a:gd name="adj" fmla="val 2759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27432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9E988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TODAY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108960"/>
            <a:ext cx="429768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0" b="1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 min</a:t>
            </a:r>
            <a:endParaRPr lang="en-US" sz="66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29768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Manual verification and research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669280" y="3657600"/>
            <a:ext cx="822960" cy="274320"/>
          </a:xfrm>
          <a:prstGeom prst="rightArrow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2468880"/>
            <a:ext cx="4937760" cy="2651760"/>
          </a:xfrm>
          <a:prstGeom prst="roundRect">
            <a:avLst>
              <a:gd name="adj" fmla="val 2759"/>
            </a:avLst>
          </a:prstGeom>
          <a:solidFill>
            <a:srgbClr val="2A2110"/>
          </a:solidFill>
          <a:ln w="19050">
            <a:solidFill>
              <a:srgbClr val="F2B63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95160" y="274320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2B6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TARGET — WITH DEEPGUARD AI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3108960"/>
            <a:ext cx="429768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0" b="1" dirty="0">
                <a:solidFill>
                  <a:srgbClr val="FFD2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 min</a:t>
            </a:r>
            <a:endParaRPr lang="en-US" sz="66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429768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Target end-to-end verification workflow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53949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" y="5394960"/>
            <a:ext cx="104241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D2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10× faster </a:t>
            </a:r>
            <a:r>
              <a:rPr lang="en-US" sz="18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verification workflow (target)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570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Workflow target — not the AI model’s inference time.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2286000"/>
            <a:ext cx="6400800" cy="5486400"/>
          </a:xfrm>
          <a:prstGeom prst="ellipse">
            <a:avLst/>
          </a:prstGeom>
          <a:solidFill>
            <a:srgbClr val="F2B632">
              <a:alpha val="5000"/>
            </a:srgbClr>
          </a:solidFill>
          <a:ln w="12700">
            <a:solidFill>
              <a:srgbClr val="F2B6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7432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74320"/>
            <a:ext cx="137160" cy="137160"/>
          </a:xfrm>
          <a:prstGeom prst="rect">
            <a:avLst/>
          </a:prstGeom>
          <a:solidFill>
            <a:srgbClr val="4F7DF0"/>
          </a:solidFill>
          <a:ln w="12700">
            <a:solidFill>
              <a:srgbClr val="4F7D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457200"/>
            <a:ext cx="137160" cy="137160"/>
          </a:xfrm>
          <a:prstGeom prst="rect">
            <a:avLst/>
          </a:prstGeom>
          <a:solidFill>
            <a:srgbClr val="757068"/>
          </a:solidFill>
          <a:ln w="12700">
            <a:solidFill>
              <a:srgbClr val="757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7432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457200"/>
            <a:ext cx="137160" cy="137160"/>
          </a:xfrm>
          <a:prstGeom prst="rect">
            <a:avLst/>
          </a:prstGeom>
          <a:solidFill>
            <a:srgbClr val="4F7DF0"/>
          </a:solidFill>
          <a:ln w="12700">
            <a:solidFill>
              <a:srgbClr val="4F7D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274320"/>
            <a:ext cx="137160" cy="137160"/>
          </a:xfrm>
          <a:prstGeom prst="rect">
            <a:avLst/>
          </a:prstGeom>
          <a:solidFill>
            <a:srgbClr val="332D25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45720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274320"/>
            <a:ext cx="137160" cy="137160"/>
          </a:xfrm>
          <a:prstGeom prst="rect">
            <a:avLst/>
          </a:prstGeom>
          <a:solidFill>
            <a:srgbClr val="757068"/>
          </a:solidFill>
          <a:ln w="12700">
            <a:solidFill>
              <a:srgbClr val="757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685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EF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DEEPGUARD AI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858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0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07 / 09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B6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141732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we will </a:t>
            </a:r>
            <a:r>
              <a:rPr lang="en-US" sz="3800" i="1" dirty="0">
                <a:solidFill>
                  <a:srgbClr val="FFD27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prove it works</a:t>
            </a:r>
            <a:endParaRPr lang="en-US" sz="3800" dirty="0"/>
          </a:p>
        </p:txBody>
      </p:sp>
      <p:sp>
        <p:nvSpPr>
          <p:cNvPr id="15" name="Shape 13"/>
          <p:cNvSpPr/>
          <p:nvPr/>
        </p:nvSpPr>
        <p:spPr>
          <a:xfrm>
            <a:off x="548640" y="2377440"/>
            <a:ext cx="6766560" cy="3840480"/>
          </a:xfrm>
          <a:prstGeom prst="roundRect">
            <a:avLst>
              <a:gd name="adj" fmla="val 1905"/>
            </a:avLst>
          </a:prstGeom>
          <a:solidFill>
            <a:srgbClr val="2A2110"/>
          </a:solidFill>
          <a:ln w="19050">
            <a:solidFill>
              <a:srgbClr val="F2B63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2606040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2B6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INDEPENDENT EVALUATION ON A SMALL 62-IMAGE TEST SET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2971800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0" b="1" dirty="0">
                <a:solidFill>
                  <a:srgbClr val="FFD2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88.71%</a:t>
            </a:r>
            <a:endParaRPr lang="en-US" sz="6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02336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accuracy · 55 / 62 correct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206240" y="34290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29 AI-generated + 33 REAL images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" y="466344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84632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95.83%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48640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926080" y="466344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926080" y="484632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79.31%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2926080" y="548640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Recall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0" y="4663440"/>
            <a:ext cx="1920240" cy="1325880"/>
          </a:xfrm>
          <a:prstGeom prst="roundRect">
            <a:avLst>
              <a:gd name="adj" fmla="val 5517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029200" y="484632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86.79%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0" y="548640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F1-score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589520" y="2377440"/>
            <a:ext cx="4023360" cy="3840480"/>
          </a:xfrm>
          <a:prstGeom prst="roundRect">
            <a:avLst>
              <a:gd name="adj" fmla="val 1905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7863840" y="2651760"/>
            <a:ext cx="548640" cy="54864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1973" y="2799893"/>
            <a:ext cx="252374" cy="252374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7863840" y="342900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9E988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REPORTED BY MODEL AUTHOR — NOT OUR INDEPENDENT RESULT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7863840" y="4114800"/>
            <a:ext cx="347472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7570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[Add the benchmark figure from the Detectra v3 model card here]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A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2286000"/>
            <a:ext cx="6400800" cy="5486400"/>
          </a:xfrm>
          <a:prstGeom prst="ellipse">
            <a:avLst/>
          </a:prstGeom>
          <a:solidFill>
            <a:srgbClr val="F2B632">
              <a:alpha val="5000"/>
            </a:srgbClr>
          </a:solidFill>
          <a:ln w="12700">
            <a:solidFill>
              <a:srgbClr val="F2B63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27432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74320"/>
            <a:ext cx="137160" cy="137160"/>
          </a:xfrm>
          <a:prstGeom prst="rect">
            <a:avLst/>
          </a:prstGeom>
          <a:solidFill>
            <a:srgbClr val="4F7DF0"/>
          </a:solidFill>
          <a:ln w="12700">
            <a:solidFill>
              <a:srgbClr val="4F7D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457200"/>
            <a:ext cx="137160" cy="137160"/>
          </a:xfrm>
          <a:prstGeom prst="rect">
            <a:avLst/>
          </a:prstGeom>
          <a:solidFill>
            <a:srgbClr val="757068"/>
          </a:solidFill>
          <a:ln w="12700">
            <a:solidFill>
              <a:srgbClr val="7570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7432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457200"/>
            <a:ext cx="137160" cy="137160"/>
          </a:xfrm>
          <a:prstGeom prst="rect">
            <a:avLst/>
          </a:prstGeom>
          <a:solidFill>
            <a:srgbClr val="4F7DF0"/>
          </a:solidFill>
          <a:ln w="12700">
            <a:solidFill>
              <a:srgbClr val="4F7D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274320"/>
            <a:ext cx="137160" cy="137160"/>
          </a:xfrm>
          <a:prstGeom prst="rect">
            <a:avLst/>
          </a:prstGeom>
          <a:solidFill>
            <a:srgbClr val="332D25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457200"/>
            <a:ext cx="137160" cy="137160"/>
          </a:xfrm>
          <a:prstGeom prst="rect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274320"/>
            <a:ext cx="137160" cy="137160"/>
          </a:xfrm>
          <a:prstGeom prst="rect">
            <a:avLst/>
          </a:prstGeom>
          <a:solidFill>
            <a:srgbClr val="757068"/>
          </a:solidFill>
          <a:ln w="12700">
            <a:solidFill>
              <a:srgbClr val="757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685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EF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DEEPGUARD AI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0" y="6858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06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05 / 09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B63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HUMAN APPROVAL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141732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assists. </a:t>
            </a:r>
            <a:r>
              <a:rPr lang="en-US" sz="3800" i="1" dirty="0">
                <a:solidFill>
                  <a:srgbClr val="FFD27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Humans decide.</a:t>
            </a:r>
            <a:endParaRPr lang="en-US" sz="3800" dirty="0"/>
          </a:p>
        </p:txBody>
      </p:sp>
      <p:sp>
        <p:nvSpPr>
          <p:cNvPr id="15" name="Shape 13"/>
          <p:cNvSpPr/>
          <p:nvPr/>
        </p:nvSpPr>
        <p:spPr>
          <a:xfrm>
            <a:off x="548640" y="246888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2743200"/>
            <a:ext cx="640080" cy="64008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502" y="2916022"/>
            <a:ext cx="294437" cy="294437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691640" y="28803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DeepGuard AI provides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68680" y="3657600"/>
            <a:ext cx="4389120" cy="1554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probability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Detection verdict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Visual confidence indicator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669280" y="3749040"/>
            <a:ext cx="822960" cy="274320"/>
          </a:xfrm>
          <a:prstGeom prst="rightArrow">
            <a:avLst/>
          </a:prstGeom>
          <a:solidFill>
            <a:srgbClr val="F2B632"/>
          </a:solidFill>
          <a:ln w="12700">
            <a:solidFill>
              <a:srgbClr val="F2B63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675120" y="2468880"/>
            <a:ext cx="4937760" cy="2926080"/>
          </a:xfrm>
          <a:prstGeom prst="roundRect">
            <a:avLst>
              <a:gd name="adj" fmla="val 2500"/>
            </a:avLst>
          </a:prstGeom>
          <a:solidFill>
            <a:srgbClr val="2A2110"/>
          </a:solidFill>
          <a:ln w="19050">
            <a:solidFill>
              <a:srgbClr val="F2B63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995160" y="2743200"/>
            <a:ext cx="640080" cy="64008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7982" y="2916022"/>
            <a:ext cx="294437" cy="294437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818120" y="28803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D27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user decides</a:t>
            </a:r>
            <a:endParaRPr lang="en-US" sz="1800" dirty="0"/>
          </a:p>
        </p:txBody>
      </p:sp>
      <p:sp>
        <p:nvSpPr>
          <p:cNvPr id="25" name="Text 21"/>
          <p:cNvSpPr txBox="1"/>
          <p:nvPr/>
        </p:nvSpPr>
        <p:spPr>
          <a:xfrm>
            <a:off x="6995160" y="3749040"/>
            <a:ext cx="429768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4EF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final decision always remains with the user.</a:t>
            </a:r>
            <a:endParaRPr lang="en-US" sz="2000" dirty="0"/>
          </a:p>
        </p:txBody>
      </p:sp>
      <p:sp>
        <p:nvSpPr>
          <p:cNvPr id="26" name="Shape 22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17130E"/>
          </a:solidFill>
          <a:ln w="12700">
            <a:solidFill>
              <a:srgbClr val="332D2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77240" y="5687568"/>
            <a:ext cx="502920" cy="502920"/>
          </a:xfrm>
          <a:prstGeom prst="ellipse">
            <a:avLst/>
          </a:prstGeom>
          <a:solidFill>
            <a:srgbClr val="2A2110"/>
          </a:solidFill>
          <a:ln w="12700">
            <a:solidFill>
              <a:srgbClr val="F2B632"/>
            </a:solidFill>
            <a:prstDash val="solid"/>
          </a:ln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028" y="5823356"/>
            <a:ext cx="231343" cy="231343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508760" y="562356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E988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“AI detection is probabilistic and should not be treated as definitive proof of authenticity.”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Google Shape;336;p22" descr="hot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2"/>
          <p:cNvSpPr txBox="1"/>
          <p:nvPr/>
        </p:nvSpPr>
        <p:spPr>
          <a:xfrm>
            <a:off x="711182" y="558786"/>
            <a:ext cx="4444888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✱  BFWAI/HACK 26</a:t>
            </a:r>
            <a:endParaRPr lang="en-US" sz="1300" b="1" i="0">
              <a:solidFill>
                <a:srgbClr val="F4EFE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38" name="Google Shape;338;p22"/>
          <p:cNvSpPr txBox="1"/>
          <p:nvPr/>
        </p:nvSpPr>
        <p:spPr>
          <a:xfrm>
            <a:off x="6984825" y="571485"/>
            <a:ext cx="4495687" cy="25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>
                <a:solidFill>
                  <a:srgbClr val="757068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</a:t>
            </a:r>
            <a:endParaRPr lang="en-US" sz="1100" b="0" i="0">
              <a:solidFill>
                <a:srgbClr val="757068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cxnSp>
        <p:nvCxnSpPr>
          <p:cNvPr id="339" name="Google Shape;339;p22"/>
          <p:cNvCxnSpPr/>
          <p:nvPr/>
        </p:nvCxnSpPr>
        <p:spPr>
          <a:xfrm>
            <a:off x="711182" y="6286342"/>
            <a:ext cx="10769330" cy="0"/>
          </a:xfrm>
          <a:prstGeom prst="straightConnector1">
            <a:avLst/>
          </a:prstGeom>
          <a:noFill/>
          <a:ln w="9525" cap="flat" cmpd="sng">
            <a:solidFill>
              <a:srgbClr val="332D25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340" name="Google Shape;340;p22"/>
          <p:cNvSpPr txBox="1"/>
          <p:nvPr/>
        </p:nvSpPr>
        <p:spPr>
          <a:xfrm>
            <a:off x="711182" y="6413339"/>
            <a:ext cx="571485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buildfastwithai.com/hackathon ↗</a:t>
            </a:r>
            <a:endParaRPr lang="en-US" sz="1100" b="1" i="0">
              <a:solidFill>
                <a:srgbClr val="F4EFE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41" name="Google Shape;341;p22"/>
          <p:cNvSpPr txBox="1"/>
          <p:nvPr/>
        </p:nvSpPr>
        <p:spPr>
          <a:xfrm>
            <a:off x="8254793" y="6426039"/>
            <a:ext cx="3225719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>
                <a:solidFill>
                  <a:srgbClr val="757068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  <a:sym typeface="JetBrains Mono" panose="02000009000000000000"/>
              </a:rPr>
              <a:t>10 / 10</a:t>
            </a:r>
            <a:endParaRPr lang="en-US" sz="900" b="0" i="0">
              <a:solidFill>
                <a:srgbClr val="757068"/>
              </a:solidFill>
              <a:latin typeface="JetBrains Mono" panose="02000009000000000000"/>
              <a:ea typeface="JetBrains Mono" panose="02000009000000000000"/>
              <a:cs typeface="JetBrains Mono" panose="02000009000000000000"/>
              <a:sym typeface="JetBrains Mono" panose="02000009000000000000"/>
            </a:endParaRPr>
          </a:p>
        </p:txBody>
      </p:sp>
      <p:sp>
        <p:nvSpPr>
          <p:cNvPr id="342" name="Google Shape;342;p22"/>
          <p:cNvSpPr txBox="1"/>
          <p:nvPr/>
        </p:nvSpPr>
        <p:spPr>
          <a:xfrm>
            <a:off x="711200" y="1075055"/>
            <a:ext cx="2768600" cy="521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600" b="1">
                <a:solidFill>
                  <a:srgbClr val="F2A21B"/>
                </a:solidFill>
                <a:latin typeface="Space Grotesk"/>
                <a:ea typeface="Space Grotesk"/>
                <a:cs typeface="Space Grotesk"/>
                <a:sym typeface="Space Grotesk"/>
              </a:rPr>
              <a:t>[Ctrl Alt Elite</a:t>
            </a:r>
            <a:r>
              <a:rPr lang="en-US" sz="1600" b="1" i="0">
                <a:solidFill>
                  <a:srgbClr val="F2B632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  <a:sym typeface="JetBrains Mono" panose="02000009000000000000"/>
              </a:rPr>
              <a:t>]</a:t>
            </a:r>
            <a:r>
              <a:rPr lang="en-US" sz="950" b="1" i="0">
                <a:solidFill>
                  <a:srgbClr val="F2B632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  <a:sym typeface="JetBrains Mono" panose="02000009000000000000"/>
              </a:rPr>
              <a:t> </a:t>
            </a:r>
            <a:r>
              <a:rPr lang="en-US" sz="1600" b="1" i="0">
                <a:solidFill>
                  <a:srgbClr val="F2B632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  <a:sym typeface="JetBrains Mono" panose="02000009000000000000"/>
              </a:rPr>
              <a:t>· [</a:t>
            </a:r>
            <a:r>
              <a:rPr lang="en-US" altLang="en-GB" sz="1600" b="1">
                <a:solidFill>
                  <a:srgbClr val="F2A21B"/>
                </a:solidFill>
                <a:latin typeface="Space Grotesk"/>
                <a:ea typeface="Space Grotesk"/>
                <a:cs typeface="Space Grotesk"/>
                <a:sym typeface="Space Grotesk"/>
              </a:rPr>
              <a:t>PSN012</a:t>
            </a:r>
            <a:r>
              <a:rPr lang="en-US" sz="1600" b="1" i="0">
                <a:solidFill>
                  <a:srgbClr val="F2B632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  <a:sym typeface="JetBrains Mono" panose="02000009000000000000"/>
              </a:rPr>
              <a:t>]</a:t>
            </a:r>
            <a:endParaRPr lang="en-US" sz="1600" b="1" i="0">
              <a:solidFill>
                <a:srgbClr val="F2B632"/>
              </a:solidFill>
              <a:latin typeface="JetBrains Mono" panose="02000009000000000000"/>
              <a:ea typeface="JetBrains Mono" panose="02000009000000000000"/>
              <a:cs typeface="JetBrains Mono" panose="02000009000000000000"/>
              <a:sym typeface="JetBrains Mono" panose="02000009000000000000"/>
            </a:endParaRPr>
          </a:p>
        </p:txBody>
      </p:sp>
      <p:sp>
        <p:nvSpPr>
          <p:cNvPr id="343" name="Google Shape;343;p22"/>
          <p:cNvSpPr txBox="1"/>
          <p:nvPr/>
        </p:nvSpPr>
        <p:spPr>
          <a:xfrm>
            <a:off x="447022" y="2616119"/>
            <a:ext cx="10159746" cy="1396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0" b="0" i="0">
                <a:solidFill>
                  <a:srgbClr val="F4EFE6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Thank </a:t>
            </a:r>
            <a:r>
              <a:rPr lang="en-US" sz="11000" b="0" i="1">
                <a:solidFill>
                  <a:srgbClr val="FFD27A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you.</a:t>
            </a:r>
            <a:endParaRPr lang="en-US" sz="11000" b="0" i="1">
              <a:solidFill>
                <a:srgbClr val="FFD27A"/>
              </a:solidFill>
              <a:latin typeface="Instrument Serif"/>
              <a:ea typeface="Instrument Serif"/>
              <a:cs typeface="Instrument Serif"/>
              <a:sym typeface="Instrument Serif"/>
            </a:endParaRPr>
          </a:p>
        </p:txBody>
      </p:sp>
      <p:sp>
        <p:nvSpPr>
          <p:cNvPr id="345" name="Google Shape;345;p22"/>
          <p:cNvSpPr txBox="1"/>
          <p:nvPr/>
        </p:nvSpPr>
        <p:spPr>
          <a:xfrm>
            <a:off x="1000125" y="5334000"/>
            <a:ext cx="4444365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[</a:t>
            </a:r>
            <a:r>
              <a:rPr lang="en-US" altLang="en-GB" sz="16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www.linkedin.com/in/abishri-m-21ab3b375</a:t>
            </a:r>
            <a:r>
              <a:rPr lang="en-US" sz="1600" b="1" i="0">
                <a:solidFill>
                  <a:srgbClr val="F4EFE6"/>
                </a:solidFill>
                <a:latin typeface="Space Grotesk"/>
                <a:ea typeface="Space Grotesk"/>
                <a:cs typeface="Space Grotesk"/>
                <a:sym typeface="Space Grotesk"/>
              </a:rPr>
              <a:t>]</a:t>
            </a:r>
            <a:endParaRPr lang="en-US" sz="1600" b="1" i="0">
              <a:solidFill>
                <a:srgbClr val="F4EFE6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3335</Words>
  <Application>WPS Presentation</Application>
  <PresentationFormat>On-screen Show (16:9)</PresentationFormat>
  <Paragraphs>259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31" baseType="lpstr">
      <vt:lpstr>Arial</vt:lpstr>
      <vt:lpstr>SimSun</vt:lpstr>
      <vt:lpstr>Wingdings</vt:lpstr>
      <vt:lpstr>Consolas</vt:lpstr>
      <vt:lpstr>Consolas</vt:lpstr>
      <vt:lpstr>Consolas</vt:lpstr>
      <vt:lpstr>Arial</vt:lpstr>
      <vt:lpstr>Arial</vt:lpstr>
      <vt:lpstr>Georgia</vt:lpstr>
      <vt:lpstr>Georgia</vt:lpstr>
      <vt:lpstr>Georgia</vt:lpstr>
      <vt:lpstr>Calibri</vt:lpstr>
      <vt:lpstr>Microsoft YaHei</vt:lpstr>
      <vt:lpstr>Arial Unicode MS</vt:lpstr>
      <vt:lpstr>Space Grotesk</vt:lpstr>
      <vt:lpstr>Happy Morin</vt:lpstr>
      <vt:lpstr>JetBrains Mono</vt:lpstr>
      <vt:lpstr>Instrument Serif</vt:lpstr>
      <vt:lpstr>Simplified Arabic Fixed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DeepGuard AI</dc:title>
  <dc:creator>PptxGenJS</dc:creator>
  <dc:subject>PptxGenJS Presentation</dc:subject>
  <cp:lastModifiedBy>Sivaraman</cp:lastModifiedBy>
  <cp:revision>5</cp:revision>
  <dcterms:created xsi:type="dcterms:W3CDTF">2026-09-30T09:46:00Z</dcterms:created>
  <dcterms:modified xsi:type="dcterms:W3CDTF">2026-09-30T12:10:21Z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E541A1EB1A0347CD9F86704771C05DF8_12</vt:lpwstr>
  </property>
  <property fmtid="{D5CDD505-2E9C-101B-9397-08002B2CF9AE}" pid="3" name="KSOProductBuildVer">
    <vt:lpwstr>2057-12.2.0.23206</vt:lpwstr>
  </property>
</Properties>
</file>